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Gelasio" pitchFamily="2" charset="0"/>
      <p:regular r:id="rId12"/>
    </p:embeddedFont>
    <p:embeddedFont>
      <p:font typeface="Gelasio Semi Bold" pitchFamily="2" charset="0"/>
      <p:regular r:id="rId13"/>
      <p:bold r:id="rId14"/>
    </p:embeddedFont>
  </p:embeddedFontLst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6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>
        <p:scale>
          <a:sx n="97" d="100"/>
          <a:sy n="97" d="100"/>
        </p:scale>
        <p:origin x="52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2403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EE8DD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234326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BBC Haber Sınıflandırması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410098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TF-IDF + Lojistik Regresyon tabanlı çok sınıflı metin sınıflandırma projesi — veri ön işlemeden XAI yorumlanabilirliğine kadar uçtan uca bir makine öğrenmesi pipeline'ı.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44847"/>
            <a:ext cx="2233136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D3C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6423898" y="5529859"/>
            <a:ext cx="194571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NLP · SKLEARN · LIME</a:t>
            </a:r>
            <a:endParaRPr lang="en-US" sz="1400" dirty="0"/>
          </a:p>
        </p:txBody>
      </p:sp>
      <p:sp>
        <p:nvSpPr>
          <p:cNvPr id="11" name="Yuvarlatılmış Dikdörtgen 10">
            <a:extLst>
              <a:ext uri="{FF2B5EF4-FFF2-40B4-BE49-F238E27FC236}">
                <a16:creationId xmlns:a16="http://schemas.microsoft.com/office/drawing/2014/main" id="{EF29B43E-E48F-89C1-0680-0599F226C797}"/>
              </a:ext>
            </a:extLst>
          </p:cNvPr>
          <p:cNvSpPr/>
          <p:nvPr/>
        </p:nvSpPr>
        <p:spPr>
          <a:xfrm>
            <a:off x="12838670" y="7760043"/>
            <a:ext cx="1705233" cy="383060"/>
          </a:xfrm>
          <a:prstGeom prst="roundRect">
            <a:avLst/>
          </a:prstGeom>
          <a:solidFill>
            <a:srgbClr val="F9F6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19125"/>
            <a:ext cx="6856928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Proje Akışına Genel Bakış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6642" y="1706880"/>
            <a:ext cx="1311711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 beş ana aşamadan oluşmaktadır. Her adım bir sonrakinin temelini oluşturur ve sonuçlar karşılaştırmalı olarak analiz edilir.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668" y="2276475"/>
            <a:ext cx="12696944" cy="47644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09931" y="3490054"/>
            <a:ext cx="655839" cy="65583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225620" y="5699822"/>
            <a:ext cx="1915050" cy="737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Görselleştirme</a:t>
            </a:r>
            <a:endParaRPr lang="en-US" sz="2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08946" y="3491284"/>
            <a:ext cx="655839" cy="65583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12133" y="5884277"/>
            <a:ext cx="1915050" cy="3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XAI - LIME</a:t>
            </a:r>
            <a:endParaRPr lang="en-US" sz="23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08575" y="3491284"/>
            <a:ext cx="655839" cy="65583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11762" y="5884277"/>
            <a:ext cx="1915050" cy="3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Metrikler</a:t>
            </a:r>
            <a:endParaRPr lang="en-US" sz="23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08204" y="3491284"/>
            <a:ext cx="655839" cy="655839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011390" y="5699822"/>
            <a:ext cx="1915050" cy="737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Model Eğitimi</a:t>
            </a:r>
            <a:endParaRPr lang="en-US" sz="23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94717" y="3491284"/>
            <a:ext cx="655839" cy="655839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558553" y="5699822"/>
            <a:ext cx="1915050" cy="737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Veri Ön İşleme</a:t>
            </a:r>
            <a:endParaRPr lang="en-US" sz="2300" dirty="0"/>
          </a:p>
        </p:txBody>
      </p:sp>
      <p:sp>
        <p:nvSpPr>
          <p:cNvPr id="15" name="Text 7"/>
          <p:cNvSpPr/>
          <p:nvPr/>
        </p:nvSpPr>
        <p:spPr>
          <a:xfrm>
            <a:off x="756642" y="7272695"/>
            <a:ext cx="1311711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Ham ve işlenmiş veri üzerinde eğitilen modeller her aşamada karşılaştırmalı olarak değerlendirilmiştir.</a:t>
            </a:r>
            <a:endParaRPr lang="en-US" sz="1700" dirty="0"/>
          </a:p>
        </p:txBody>
      </p:sp>
      <p:sp>
        <p:nvSpPr>
          <p:cNvPr id="16" name="Yuvarlatılmış Dikdörtgen 15">
            <a:extLst>
              <a:ext uri="{FF2B5EF4-FFF2-40B4-BE49-F238E27FC236}">
                <a16:creationId xmlns:a16="http://schemas.microsoft.com/office/drawing/2014/main" id="{E1795199-EDB0-416D-003F-ECC70B0A8074}"/>
              </a:ext>
            </a:extLst>
          </p:cNvPr>
          <p:cNvSpPr/>
          <p:nvPr/>
        </p:nvSpPr>
        <p:spPr>
          <a:xfrm>
            <a:off x="12851027" y="7760043"/>
            <a:ext cx="1668162" cy="370703"/>
          </a:xfrm>
          <a:prstGeom prst="roundRect">
            <a:avLst/>
          </a:prstGeom>
          <a:solidFill>
            <a:srgbClr val="F9F6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04957"/>
            <a:ext cx="6602968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Veri Seti: BBC Haberleri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9025" y="1802368"/>
            <a:ext cx="6278166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BBC News veri seti </a:t>
            </a:r>
            <a:r>
              <a:rPr lang="en-US" sz="17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2.225 haber makalesinden</a:t>
            </a: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oluşmakta olup 5 kategoriye dengeli biçimde dağılmıştır. Eğitim/test ayrımı </a:t>
            </a:r>
            <a:r>
              <a:rPr lang="en-US" sz="17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%80 / %20</a:t>
            </a: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oranında uygulanmıştır.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25" y="3080147"/>
            <a:ext cx="6278166" cy="35809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61950" y="3464957"/>
            <a:ext cx="18966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511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6342281" y="4097417"/>
            <a:ext cx="18966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510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422928" y="4729877"/>
            <a:ext cx="18966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417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5260384" y="5362337"/>
            <a:ext cx="18966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401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5104650" y="5994797"/>
            <a:ext cx="189667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386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590830" y="1823561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Veri Özellikleri</a:t>
            </a:r>
            <a:endParaRPr lang="en-US" sz="2150" dirty="0"/>
          </a:p>
        </p:txBody>
      </p:sp>
      <p:sp>
        <p:nvSpPr>
          <p:cNvPr id="11" name="Shape 8"/>
          <p:cNvSpPr/>
          <p:nvPr/>
        </p:nvSpPr>
        <p:spPr>
          <a:xfrm>
            <a:off x="7590830" y="2406253"/>
            <a:ext cx="6278166" cy="1402437"/>
          </a:xfrm>
          <a:prstGeom prst="roundRect">
            <a:avLst>
              <a:gd name="adj" fmla="val 10432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7560350" y="2406253"/>
            <a:ext cx="121920" cy="1402437"/>
          </a:xfrm>
          <a:prstGeom prst="roundRect">
            <a:avLst>
              <a:gd name="adj" fmla="val 27035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7932420" y="2656403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2.225 Makale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7932420" y="3212425"/>
            <a:ext cx="5686425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Toplam haber sayısı; 1.780 eğitim, 445 test örneği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7590830" y="4021455"/>
            <a:ext cx="6278166" cy="1402437"/>
          </a:xfrm>
          <a:prstGeom prst="roundRect">
            <a:avLst>
              <a:gd name="adj" fmla="val 10432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3"/>
          <p:cNvSpPr/>
          <p:nvPr/>
        </p:nvSpPr>
        <p:spPr>
          <a:xfrm>
            <a:off x="7560350" y="4021455"/>
            <a:ext cx="121920" cy="1402437"/>
          </a:xfrm>
          <a:prstGeom prst="roundRect">
            <a:avLst>
              <a:gd name="adj" fmla="val 27035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4"/>
          <p:cNvSpPr/>
          <p:nvPr/>
        </p:nvSpPr>
        <p:spPr>
          <a:xfrm>
            <a:off x="7932420" y="4271605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5 Kategori</a:t>
            </a:r>
            <a:endParaRPr lang="en-US" sz="2150" dirty="0"/>
          </a:p>
        </p:txBody>
      </p:sp>
      <p:sp>
        <p:nvSpPr>
          <p:cNvPr id="18" name="Text 15"/>
          <p:cNvSpPr/>
          <p:nvPr/>
        </p:nvSpPr>
        <p:spPr>
          <a:xfrm>
            <a:off x="7932420" y="4827627"/>
            <a:ext cx="5686425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Sport, Business, Politics, Tech, Entertainment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7590830" y="5636657"/>
            <a:ext cx="6278166" cy="1748552"/>
          </a:xfrm>
          <a:prstGeom prst="roundRect">
            <a:avLst>
              <a:gd name="adj" fmla="val 8367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7"/>
          <p:cNvSpPr/>
          <p:nvPr/>
        </p:nvSpPr>
        <p:spPr>
          <a:xfrm>
            <a:off x="7560350" y="5636657"/>
            <a:ext cx="121920" cy="1748552"/>
          </a:xfrm>
          <a:prstGeom prst="roundRect">
            <a:avLst>
              <a:gd name="adj" fmla="val 27035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8"/>
          <p:cNvSpPr/>
          <p:nvPr/>
        </p:nvSpPr>
        <p:spPr>
          <a:xfrm>
            <a:off x="7932420" y="5886807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384 Kelime (Ort.)</a:t>
            </a:r>
            <a:endParaRPr lang="en-US" sz="2150" dirty="0"/>
          </a:p>
        </p:txBody>
      </p:sp>
      <p:sp>
        <p:nvSpPr>
          <p:cNvPr id="22" name="Text 19"/>
          <p:cNvSpPr/>
          <p:nvPr/>
        </p:nvSpPr>
        <p:spPr>
          <a:xfrm>
            <a:off x="7932420" y="6442829"/>
            <a:ext cx="5686425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Ham metindeki ortalama kelime sayısı; ön işleme sonrası 191'e düşmüştür</a:t>
            </a:r>
            <a:endParaRPr lang="en-US" sz="1700" dirty="0"/>
          </a:p>
        </p:txBody>
      </p:sp>
      <p:sp>
        <p:nvSpPr>
          <p:cNvPr id="23" name="Yuvarlatılmış Dikdörtgen 22">
            <a:extLst>
              <a:ext uri="{FF2B5EF4-FFF2-40B4-BE49-F238E27FC236}">
                <a16:creationId xmlns:a16="http://schemas.microsoft.com/office/drawing/2014/main" id="{343D1B84-FD05-E992-AA7E-69D8DA44950A}"/>
              </a:ext>
            </a:extLst>
          </p:cNvPr>
          <p:cNvSpPr/>
          <p:nvPr/>
        </p:nvSpPr>
        <p:spPr>
          <a:xfrm>
            <a:off x="12826314" y="7784757"/>
            <a:ext cx="1717589" cy="345989"/>
          </a:xfrm>
          <a:prstGeom prst="roundRect">
            <a:avLst/>
          </a:prstGeom>
          <a:solidFill>
            <a:srgbClr val="F9F6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31624"/>
          </a:xfrm>
          <a:prstGeom prst="rect">
            <a:avLst/>
          </a:prstGeom>
          <a:solidFill>
            <a:srgbClr val="EEE8DD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6628" y="555069"/>
            <a:ext cx="5341025" cy="71214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8516" y="399574"/>
            <a:ext cx="3632716" cy="45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Veri Ön İşleme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508516" y="890707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Uygulanan Adımlar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8516" y="1257300"/>
            <a:ext cx="29051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8516" y="1488996"/>
            <a:ext cx="8126968" cy="15240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508516" y="1592104"/>
            <a:ext cx="2320290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Küçük Harfe Dönüştürme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8516" y="1874996"/>
            <a:ext cx="8126968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Tüm metin lower-case'e çevrilir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8516" y="2267545"/>
            <a:ext cx="29051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8516" y="2499241"/>
            <a:ext cx="8126968" cy="15240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508516" y="2602349"/>
            <a:ext cx="3440906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URL, Sayı ve Özel Karakter Temizleme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8516" y="2885242"/>
            <a:ext cx="8126968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Regex ile gürültü giderilir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8516" y="3277791"/>
            <a:ext cx="29051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8516" y="3509486"/>
            <a:ext cx="8126968" cy="15240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508516" y="3612594"/>
            <a:ext cx="1913334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Stop-word Filtreleme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08516" y="3895487"/>
            <a:ext cx="8126968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İngilizce stop-word listesi kullanılır (ağ bağlantısı gerektirmez)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8516" y="4288036"/>
            <a:ext cx="29051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08516" y="4519732"/>
            <a:ext cx="8126968" cy="15240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7"/>
          <p:cNvSpPr/>
          <p:nvPr/>
        </p:nvSpPr>
        <p:spPr>
          <a:xfrm>
            <a:off x="508516" y="4622840"/>
            <a:ext cx="2432804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Basit Suffix Lemmatization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08516" y="4905732"/>
            <a:ext cx="8126968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-ing, -tion, -ness gibi ekler kural tabanlı olarak giderilir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8516" y="5382578"/>
            <a:ext cx="4005262" cy="479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3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384</a:t>
            </a:r>
            <a:endParaRPr lang="en-US" sz="3750" dirty="0"/>
          </a:p>
        </p:txBody>
      </p:sp>
      <p:sp>
        <p:nvSpPr>
          <p:cNvPr id="23" name="Text 20"/>
          <p:cNvSpPr/>
          <p:nvPr/>
        </p:nvSpPr>
        <p:spPr>
          <a:xfrm>
            <a:off x="1602938" y="6004441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Ham Kelime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08516" y="6287333"/>
            <a:ext cx="4005262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Makale başına ortalama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630103" y="5382578"/>
            <a:ext cx="4005382" cy="479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3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191</a:t>
            </a:r>
            <a:endParaRPr lang="en-US" sz="3750" dirty="0"/>
          </a:p>
        </p:txBody>
      </p:sp>
      <p:sp>
        <p:nvSpPr>
          <p:cNvPr id="26" name="Text 23"/>
          <p:cNvSpPr/>
          <p:nvPr/>
        </p:nvSpPr>
        <p:spPr>
          <a:xfrm>
            <a:off x="5724644" y="6004441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Temiz Kelime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630103" y="6287333"/>
            <a:ext cx="4005382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Ön işleme sonrası ortalama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569250" y="6736675"/>
            <a:ext cx="4005382" cy="479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3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%50</a:t>
            </a:r>
            <a:endParaRPr lang="en-US" sz="3750" dirty="0"/>
          </a:p>
        </p:txBody>
      </p:sp>
      <p:sp>
        <p:nvSpPr>
          <p:cNvPr id="29" name="Text 26"/>
          <p:cNvSpPr/>
          <p:nvPr/>
        </p:nvSpPr>
        <p:spPr>
          <a:xfrm>
            <a:off x="3663791" y="7358539"/>
            <a:ext cx="1816298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Azalma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2569250" y="7641431"/>
            <a:ext cx="4005382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Gürültü kelimelerinin oranı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61035"/>
            <a:ext cx="12255103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Model Pipeline: TF-IDF + Lojistik Regresyon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1407" y="1908215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Pipeline Mimarisi</a:t>
            </a:r>
            <a:endParaRPr lang="en-US" sz="2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07" y="2504242"/>
            <a:ext cx="1116330" cy="17237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17527" y="2727484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TF-IDF Vektörizer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2117527" y="3296126"/>
            <a:ext cx="492537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Kelimelerin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frekansını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ve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haber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içindeki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önem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derecesini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hesaplayarak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metni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matematiksel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bir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haritaya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dönüştürür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 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407" y="4228028"/>
            <a:ext cx="1116330" cy="136945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17527" y="4451271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Lojistik Regresyon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2117527" y="5019912"/>
            <a:ext cx="4925378" cy="1149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Öğrendiği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kalıpları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kullanarak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metnin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hangi 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kategoriye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ait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olduğunu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analiz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eder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407" y="5597485"/>
            <a:ext cx="1116330" cy="172378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117527" y="5820728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Sınıflandırma</a:t>
            </a:r>
            <a:endParaRPr lang="en-US" sz="2150" dirty="0"/>
          </a:p>
        </p:txBody>
      </p:sp>
      <p:sp>
        <p:nvSpPr>
          <p:cNvPr id="12" name="Text 7"/>
          <p:cNvSpPr/>
          <p:nvPr/>
        </p:nvSpPr>
        <p:spPr>
          <a:xfrm>
            <a:off x="2117527" y="6389370"/>
            <a:ext cx="492537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 sınıf çıktısı: business, entertainment, politics, sport, tech (</a:t>
            </a: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haberi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5 ana </a:t>
            </a: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kategoriden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uygun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olanına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yerleştirir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.)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7434382" y="1688425"/>
            <a:ext cx="6582966" cy="5880021"/>
          </a:xfrm>
          <a:prstGeom prst="roundRect">
            <a:avLst>
              <a:gd name="adj" fmla="val 570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9"/>
          <p:cNvSpPr/>
          <p:nvPr/>
        </p:nvSpPr>
        <p:spPr>
          <a:xfrm>
            <a:off x="7657624" y="1908215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Neden Bu Seçimler?</a:t>
            </a:r>
            <a:endParaRPr lang="en-US" sz="2150" dirty="0"/>
          </a:p>
        </p:txBody>
      </p:sp>
      <p:sp>
        <p:nvSpPr>
          <p:cNvPr id="15" name="Text 10"/>
          <p:cNvSpPr/>
          <p:nvPr/>
        </p:nvSpPr>
        <p:spPr>
          <a:xfrm>
            <a:off x="7657624" y="2476857"/>
            <a:ext cx="6136481" cy="3343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 err="1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Sadece</a:t>
            </a: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tekil</a:t>
            </a: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kelimelere</a:t>
            </a: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bakmaz</a:t>
            </a: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</a:t>
            </a:r>
            <a:r>
              <a:rPr lang="en-US" sz="1750" dirty="0" err="1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ikili</a:t>
            </a: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kelime</a:t>
            </a: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gruplarını</a:t>
            </a: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(bigram) </a:t>
            </a:r>
            <a:r>
              <a:rPr lang="en-US" sz="1750" dirty="0" err="1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analiz</a:t>
            </a: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ederek</a:t>
            </a: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bağlamı</a:t>
            </a: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kaybetmez</a:t>
            </a: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 err="1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Çok</a:t>
            </a: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sık</a:t>
            </a: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geçen</a:t>
            </a: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ancak</a:t>
            </a: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ayırt</a:t>
            </a: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edici</a:t>
            </a: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olmayan</a:t>
            </a: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kelimerin</a:t>
            </a: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etkisini</a:t>
            </a: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750" dirty="0" err="1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azaltır</a:t>
            </a: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Lojistik Regresyon; hızlı, yorumlanabilir ve yüksek boyutlu veri için uygundur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Sklearn Pipeline; ön işleme ve modeli tek bir objeye bağlar — veri sızıntısını önler</a:t>
            </a:r>
            <a:endParaRPr lang="en-US" sz="1750" dirty="0"/>
          </a:p>
        </p:txBody>
      </p:sp>
      <p:sp>
        <p:nvSpPr>
          <p:cNvPr id="16" name="Yuvarlatılmış Dikdörtgen 15">
            <a:extLst>
              <a:ext uri="{FF2B5EF4-FFF2-40B4-BE49-F238E27FC236}">
                <a16:creationId xmlns:a16="http://schemas.microsoft.com/office/drawing/2014/main" id="{9F450220-C33B-8A7F-5B07-5841E17C78D5}"/>
              </a:ext>
            </a:extLst>
          </p:cNvPr>
          <p:cNvSpPr/>
          <p:nvPr/>
        </p:nvSpPr>
        <p:spPr>
          <a:xfrm>
            <a:off x="12863384" y="7784757"/>
            <a:ext cx="1668162" cy="345989"/>
          </a:xfrm>
          <a:prstGeom prst="roundRect">
            <a:avLst/>
          </a:prstGeom>
          <a:solidFill>
            <a:srgbClr val="F9F6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28" y="588050"/>
            <a:ext cx="7238167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Model Performansı: Metrikler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28" y="1532096"/>
            <a:ext cx="9259133" cy="329410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2228" y="5014555"/>
            <a:ext cx="6549271" cy="1084778"/>
          </a:xfrm>
          <a:prstGeom prst="roundRect">
            <a:avLst>
              <a:gd name="adj" fmla="val 2695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2"/>
          <p:cNvSpPr/>
          <p:nvPr/>
        </p:nvSpPr>
        <p:spPr>
          <a:xfrm>
            <a:off x="877133" y="5209461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Ham Veri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77133" y="5614511"/>
            <a:ext cx="615946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Accuracy: </a:t>
            </a:r>
            <a:r>
              <a:rPr lang="en-US" sz="15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0.9888</a:t>
            </a: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· F1-Makro: </a:t>
            </a:r>
            <a:r>
              <a:rPr lang="en-US" sz="15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0.9887</a:t>
            </a: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· AUC-ROC: </a:t>
            </a:r>
            <a:r>
              <a:rPr lang="en-US" sz="15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0.9994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98901" y="5014555"/>
            <a:ext cx="6549271" cy="1084778"/>
          </a:xfrm>
          <a:prstGeom prst="roundRect">
            <a:avLst>
              <a:gd name="adj" fmla="val 2695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7593806" y="5209461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Ön İşlenmiş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593806" y="5614511"/>
            <a:ext cx="615946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Accuracy: </a:t>
            </a:r>
            <a:r>
              <a:rPr lang="en-US" sz="15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0.9933</a:t>
            </a: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· F1-Makro: </a:t>
            </a:r>
            <a:r>
              <a:rPr lang="en-US" sz="15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0.9929</a:t>
            </a: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· AUC-ROC: </a:t>
            </a:r>
            <a:r>
              <a:rPr lang="en-US" sz="15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0.9992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82228" y="6266736"/>
            <a:ext cx="6549271" cy="1374696"/>
          </a:xfrm>
          <a:prstGeom prst="roundRect">
            <a:avLst>
              <a:gd name="adj" fmla="val 212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877133" y="6461641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CV F1 (5-Fold)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77133" y="6866692"/>
            <a:ext cx="615946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Ham: </a:t>
            </a:r>
            <a:r>
              <a:rPr lang="en-US" sz="15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0.9797 ± 0.0042</a:t>
            </a: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· İşlenmiş: </a:t>
            </a:r>
            <a:r>
              <a:rPr lang="en-US" sz="15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0.9826 ± 0.0043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398901" y="6266736"/>
            <a:ext cx="6549271" cy="1374696"/>
          </a:xfrm>
          <a:prstGeom prst="roundRect">
            <a:avLst>
              <a:gd name="adj" fmla="val 212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/>
          <p:nvPr/>
        </p:nvSpPr>
        <p:spPr>
          <a:xfrm>
            <a:off x="7593806" y="6461641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Ön İşleme Etkisi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7593806" y="6866692"/>
            <a:ext cx="6159460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F1-Makro'da </a:t>
            </a:r>
            <a:r>
              <a:rPr lang="en-US" sz="15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+0.0042</a:t>
            </a: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artış; ön işleme tutarlı ve anlamlı bir iyileşme sağlamıştır</a:t>
            </a:r>
            <a:endParaRPr lang="en-US" sz="1500" dirty="0"/>
          </a:p>
        </p:txBody>
      </p:sp>
      <p:sp>
        <p:nvSpPr>
          <p:cNvPr id="16" name="Yuvarlatılmış Dikdörtgen 15">
            <a:extLst>
              <a:ext uri="{FF2B5EF4-FFF2-40B4-BE49-F238E27FC236}">
                <a16:creationId xmlns:a16="http://schemas.microsoft.com/office/drawing/2014/main" id="{A3BACF6E-18CE-A04C-51BF-2D3649E6F5A0}"/>
              </a:ext>
            </a:extLst>
          </p:cNvPr>
          <p:cNvSpPr/>
          <p:nvPr/>
        </p:nvSpPr>
        <p:spPr>
          <a:xfrm>
            <a:off x="12851027" y="7772400"/>
            <a:ext cx="1680519" cy="358346"/>
          </a:xfrm>
          <a:prstGeom prst="roundRect">
            <a:avLst/>
          </a:prstGeom>
          <a:solidFill>
            <a:srgbClr val="F9F6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589955"/>
            <a:ext cx="4810125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Karışıklık Matrisleri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51" y="1510903"/>
            <a:ext cx="9090779" cy="37451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2351" y="5599033"/>
            <a:ext cx="2499122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Ham Veri Gözlemleri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712351" y="6059448"/>
            <a:ext cx="6369248" cy="1523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Sport ve entertainment kategorileri neredeyse mükemmel sınıflandırılmış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Politics sınıfında 3 örnek yanlış sınıflandırılmış — çoğunlukla tech veya business ile karışıyor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Genel doğruluk: </a:t>
            </a:r>
            <a:r>
              <a:rPr lang="en-US" sz="15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%98.88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556183" y="5599033"/>
            <a:ext cx="3342322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Ön İşlenmiş Veri Gözlemleri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556183" y="6059448"/>
            <a:ext cx="6369248" cy="124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Business kategorisi </a:t>
            </a:r>
            <a:r>
              <a:rPr lang="en-US" sz="15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%100 precision</a:t>
            </a: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'a ulaşmış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Politics hataları 3'ten 2'ye düşmüş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Ön işleme, sınırda kalan örneklerin daha doğru sınıflandırılmasına katkı sağlamış</a:t>
            </a:r>
            <a:endParaRPr lang="en-US" sz="1500" dirty="0"/>
          </a:p>
        </p:txBody>
      </p:sp>
      <p:sp>
        <p:nvSpPr>
          <p:cNvPr id="8" name="Yuvarlatılmış Dikdörtgen 7">
            <a:extLst>
              <a:ext uri="{FF2B5EF4-FFF2-40B4-BE49-F238E27FC236}">
                <a16:creationId xmlns:a16="http://schemas.microsoft.com/office/drawing/2014/main" id="{B960A56A-133A-015A-FB5C-115ED485437D}"/>
              </a:ext>
            </a:extLst>
          </p:cNvPr>
          <p:cNvSpPr/>
          <p:nvPr/>
        </p:nvSpPr>
        <p:spPr>
          <a:xfrm>
            <a:off x="12801600" y="7784757"/>
            <a:ext cx="1705232" cy="345989"/>
          </a:xfrm>
          <a:prstGeom prst="roundRect">
            <a:avLst/>
          </a:prstGeom>
          <a:solidFill>
            <a:srgbClr val="F9F6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7081"/>
            <a:ext cx="90312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XAI: LIME ile Yorumlanabilirlik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69488"/>
            <a:ext cx="10774323" cy="29090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733693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Her kategori için bir test örneği seçilmiş; LIME </a:t>
            </a: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10 özellik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ve </a:t>
            </a: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300 örnek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ile yerel bir açıklama üretmiştir. </a:t>
            </a:r>
            <a:r>
              <a:rPr lang="en-US" sz="1750" dirty="0">
                <a:solidFill>
                  <a:srgbClr val="4C72B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Mavi çubuklar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tahmine pozitif katkı sağlayan kelimeleri, </a:t>
            </a:r>
            <a:r>
              <a:rPr lang="en-US" sz="1750" dirty="0">
                <a:solidFill>
                  <a:srgbClr val="C44E52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kırmızı çubuklar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ise negatif katkı sağlayan kelimeleri gösterir. Tüm 5 kategoride gerçek etiket ile tahmin eşleşmiş; model kararları semantik olarak anlamlı kelimeler tarafından desteklenmektedir.</a:t>
            </a:r>
            <a:endParaRPr lang="en-US" sz="1750" dirty="0"/>
          </a:p>
        </p:txBody>
      </p:sp>
      <p:sp>
        <p:nvSpPr>
          <p:cNvPr id="5" name="Yuvarlatılmış Dikdörtgen 4">
            <a:extLst>
              <a:ext uri="{FF2B5EF4-FFF2-40B4-BE49-F238E27FC236}">
                <a16:creationId xmlns:a16="http://schemas.microsoft.com/office/drawing/2014/main" id="{C1A1C278-A4C8-B577-67AA-CA8F91663FF6}"/>
              </a:ext>
            </a:extLst>
          </p:cNvPr>
          <p:cNvSpPr/>
          <p:nvPr/>
        </p:nvSpPr>
        <p:spPr>
          <a:xfrm>
            <a:off x="12826314" y="7772400"/>
            <a:ext cx="1692875" cy="370703"/>
          </a:xfrm>
          <a:prstGeom prst="roundRect">
            <a:avLst/>
          </a:prstGeom>
          <a:solidFill>
            <a:srgbClr val="F9F6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4841"/>
            <a:ext cx="102615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LIME — Yanlış Sınıflandırma Analizi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338513"/>
            <a:ext cx="4205168" cy="26013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59981" y="1910596"/>
            <a:ext cx="44680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Gerçek: Politics → Tahmin: Tech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559981" y="2491740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 yanlış sınıflandırma vakasında LIME çok açıklayıcı bir sonuç ortaya koymuştur: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559981" y="3421618"/>
            <a:ext cx="8284131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technologies, broadband, digital, online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gibi teknoloji odaklı kelimeler modeli tech yönünde güçlü biçimde itmiş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economy, business, businesses</a:t>
            </a: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kelimeleri tech olasılığına negatif katkı sağlamış — ancak yeterince güçlü değil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Haber gerçekte bir siyasi konuyu (dijital altyapı politikası) ele alıyor, ancak kullanılan kelime dağarcığı tech haberlerine çok benziyor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559981" y="6012775"/>
            <a:ext cx="8284131" cy="1326713"/>
          </a:xfrm>
          <a:prstGeom prst="roundRect">
            <a:avLst>
              <a:gd name="adj" fmla="val 2565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795" y="6341626"/>
            <a:ext cx="283488" cy="2268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97097" y="6296263"/>
            <a:ext cx="732020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 durum, sınır sınıflarda yorumlanabilirliğin ne kadar kritik olduğunu göstermektedir.</a:t>
            </a:r>
            <a:endParaRPr lang="en-US" sz="1750" dirty="0"/>
          </a:p>
        </p:txBody>
      </p:sp>
      <p:sp>
        <p:nvSpPr>
          <p:cNvPr id="10" name="Yuvarlatılmış Dikdörtgen 9">
            <a:extLst>
              <a:ext uri="{FF2B5EF4-FFF2-40B4-BE49-F238E27FC236}">
                <a16:creationId xmlns:a16="http://schemas.microsoft.com/office/drawing/2014/main" id="{83263D58-EAEF-C7D4-39F9-720217EE068D}"/>
              </a:ext>
            </a:extLst>
          </p:cNvPr>
          <p:cNvSpPr/>
          <p:nvPr/>
        </p:nvSpPr>
        <p:spPr>
          <a:xfrm>
            <a:off x="12838670" y="7747686"/>
            <a:ext cx="1692876" cy="383060"/>
          </a:xfrm>
          <a:prstGeom prst="roundRect">
            <a:avLst/>
          </a:prstGeom>
          <a:solidFill>
            <a:srgbClr val="F9F6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4218</TotalTime>
  <Words>627</Words>
  <Application>Microsoft Macintosh PowerPoint</Application>
  <PresentationFormat>Özel</PresentationFormat>
  <Paragraphs>98</Paragraphs>
  <Slides>9</Slides>
  <Notes>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5" baseType="lpstr">
      <vt:lpstr>Gelasio Semi Bold</vt:lpstr>
      <vt:lpstr>Gelasio</vt:lpstr>
      <vt:lpstr>Gelasio Light</vt:lpstr>
      <vt:lpstr>Arial</vt:lpstr>
      <vt:lpstr>-apple-system, BlinkMacSystemFont, Segoe UI, Roboto, Helvetica Neue, Arial, sans-serif Medium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MİRAY ÇELİK</cp:lastModifiedBy>
  <cp:revision>3</cp:revision>
  <dcterms:created xsi:type="dcterms:W3CDTF">2026-05-02T08:32:06Z</dcterms:created>
  <dcterms:modified xsi:type="dcterms:W3CDTF">2026-05-06T15:40:33Z</dcterms:modified>
</cp:coreProperties>
</file>